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8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3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8157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9A858-8CA4-F224-01FB-70AF285A4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C9B40D-CB62-12B2-F006-108B5A225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B560F-7495-6107-E862-6022B54C0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E68FB-A0CC-5C96-ED50-25F0C110B5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87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B050-3A63-D38F-9534-26327D079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433C5-F55F-10C7-6617-5E6CA26ED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93C0C-6720-C7AE-2899-5C5173FF7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363C6-FF0A-BF68-C360-B129F39ECB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762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D6E8E">
              <a:alpha val="14000"/>
            </a:srgbClr>
          </a:solidFill>
          <a:ln w="12700">
            <a:solidFill>
              <a:srgbClr val="2D6E8E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E0973D">
              <a:alpha val="12000"/>
            </a:srgbClr>
          </a:solidFill>
          <a:ln w="12700">
            <a:solidFill>
              <a:srgbClr val="E0973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2D6E8E">
              <a:alpha val="12000"/>
            </a:srgbClr>
          </a:solidFill>
          <a:ln w="12700">
            <a:solidFill>
              <a:srgbClr val="2D6E8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365760" y="274320"/>
            <a:ext cx="3840480" cy="292608"/>
          </a:xfrm>
          <a:prstGeom prst="roundRect">
            <a:avLst>
              <a:gd name="adj" fmla="val 15625"/>
            </a:avLst>
          </a:prstGeom>
          <a:solidFill>
            <a:srgbClr val="E0973D"/>
          </a:solidFill>
          <a:ln w="12700">
            <a:solidFill>
              <a:srgbClr val="E0973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411480" y="283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TENGAH SEMESTER  •  PEMROGRAMAN KONTROLLER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6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Voltage Divider Dual-ADC</a:t>
            </a:r>
            <a:endParaRPr lang="en-US" sz="3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36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3-Wire Resistive Sensor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Akuisisi Sensor Resistif 3-Kawat Menggunakan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A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dan Bahasa Pemrograman Rust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90672"/>
            <a:ext cx="1828800" cy="36576"/>
          </a:xfrm>
          <a:prstGeom prst="rect">
            <a:avLst/>
          </a:prstGeom>
          <a:solidFill>
            <a:srgbClr val="E0973D"/>
          </a:solidFill>
          <a:ln w="12700">
            <a:solidFill>
              <a:srgbClr val="E0973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461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32186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0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85800" y="3429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Natasya Tiara Regina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NRP: 2042241026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Zhafran Ahmed Luxmahdy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NRP: 2042241027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023360" y="32186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0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023360" y="3429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 (Rust)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03520" y="32186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0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DOSEN PENGAMPU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303520" y="34290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Radhy, S.Si., M.Si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5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Teknologi Rekayasa Instrumentasi  •  Institut Teknologi Sepuluh Nopember (ITS)  •  Semester Genap 2025/2026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371600" cy="246888"/>
          </a:xfrm>
          <a:prstGeom prst="roundRect">
            <a:avLst>
              <a:gd name="adj" fmla="val 18519"/>
            </a:avLst>
          </a:prstGeom>
          <a:solidFill>
            <a:srgbClr val="E0973D"/>
          </a:solidFill>
          <a:ln w="12700">
            <a:solidFill>
              <a:srgbClr val="E0973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1335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Pembahasan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882F"/>
          </a:solidFill>
          <a:ln w="12700">
            <a:solidFill>
              <a:srgbClr val="D9882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94760" y="1463040"/>
            <a:ext cx="548640" cy="548640"/>
          </a:xfrm>
          <a:prstGeom prst="ellipse">
            <a:avLst/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88" y="157276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4813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Literatur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1920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15 jurnal referensi (Scopus/WoS, 2021–2026) dan daftar future work terintegrasi.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54880" y="132588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0"/>
          <p:cNvSpPr/>
          <p:nvPr/>
        </p:nvSpPr>
        <p:spPr>
          <a:xfrm>
            <a:off x="4892040" y="1463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882F"/>
          </a:solidFill>
          <a:ln w="12700">
            <a:solidFill>
              <a:srgbClr val="D9882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183880" y="1463040"/>
            <a:ext cx="548640" cy="548640"/>
          </a:xfrm>
          <a:prstGeom prst="ellipse">
            <a:avLst/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157276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14813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Baru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92040" y="1920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Voltage Divider Dual-ADC 3-Wire berbasis ESP32-S3 dan Rust.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65760" y="28803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6"/>
          <p:cNvSpPr/>
          <p:nvPr/>
        </p:nvSpPr>
        <p:spPr>
          <a:xfrm>
            <a:off x="502920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882F"/>
          </a:solidFill>
          <a:ln w="12700">
            <a:solidFill>
              <a:srgbClr val="D9882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7"/>
          <p:cNvSpPr/>
          <p:nvPr/>
        </p:nvSpPr>
        <p:spPr>
          <a:xfrm>
            <a:off x="5029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3794760" y="3017520"/>
            <a:ext cx="548640" cy="548640"/>
          </a:xfrm>
          <a:prstGeom prst="ellipse">
            <a:avLst/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488" y="312724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51560" y="30358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Hardware &amp; Hasil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02920" y="34747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Skematik rangkaian, firmware Rust, dan grafik GNUPlot dari pengujian langsung.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754880" y="28803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" name="Shape 22"/>
          <p:cNvSpPr/>
          <p:nvPr/>
        </p:nvSpPr>
        <p:spPr>
          <a:xfrm>
            <a:off x="4892040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882F"/>
          </a:solidFill>
          <a:ln w="12700">
            <a:solidFill>
              <a:srgbClr val="D9882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3"/>
          <p:cNvSpPr/>
          <p:nvPr/>
        </p:nvSpPr>
        <p:spPr>
          <a:xfrm>
            <a:off x="48920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8183880" y="3017520"/>
            <a:ext cx="548640" cy="548640"/>
          </a:xfrm>
          <a:prstGeom prst="ellipse">
            <a:avLst/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608" y="3127248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40680" y="30358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 &amp; Kesimpulan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892040" y="34747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keunggulan metode, repositori GitHub, dan simpulan akhir.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011680" cy="246888"/>
          </a:xfrm>
          <a:prstGeom prst="roundRect">
            <a:avLst>
              <a:gd name="adj" fmla="val 18519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STUDI LITERATUR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15 Jurnal Referensi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698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Scopus / Web of Science, 2021–2026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816352" cy="3520440"/>
          </a:xfrm>
          <a:prstGeom prst="roundRect">
            <a:avLst>
              <a:gd name="adj" fmla="val 3247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411480" y="1536192"/>
            <a:ext cx="502920" cy="502920"/>
          </a:xfrm>
          <a:prstGeom prst="ellipse">
            <a:avLst/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645920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Interface Circuits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2084832"/>
            <a:ext cx="2606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Reverter (2022): DIC 3-kawat, error &lt; 25 mΩ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Hidalgo-López (2023): Kompensasi kabel, error &lt; 0.15%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Khamsen et al. (2025): R-to-V tanpa kapasitor/op-amp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Aurasopon &amp; Jittakort (2025): 3-kawat via ADC MCU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Puentes-Conde et al. (2025): Review DIC komprehensif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18688" y="1417320"/>
            <a:ext cx="2816352" cy="3520440"/>
          </a:xfrm>
          <a:prstGeom prst="roundRect">
            <a:avLst>
              <a:gd name="adj" fmla="val 3247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Shape 9"/>
          <p:cNvSpPr/>
          <p:nvPr/>
        </p:nvSpPr>
        <p:spPr>
          <a:xfrm>
            <a:off x="3355848" y="1536192"/>
            <a:ext cx="502920" cy="502920"/>
          </a:xfrm>
          <a:prstGeom prst="ellipse">
            <a:avLst/>
          </a:prstGeom>
          <a:solidFill>
            <a:srgbClr val="D9882F"/>
          </a:solidFill>
          <a:ln w="12700">
            <a:solidFill>
              <a:srgbClr val="D9882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1645920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Rust &amp; Framework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55848" y="2084832"/>
            <a:ext cx="2606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Culic et al. (2022): Latensi interupsi 60 µs di Tock OS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Vandervelden et al. (2024): Benchmark RTIC vs Embassy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Plauska et al. (2022): Rust ≈ C di ESP32 (BEEBS suite)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Aldini et al. (2025): Rust library sertifikasi firmware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Hercog et al. (2023): ESP32 IoT multi-sensor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163056" y="1417320"/>
            <a:ext cx="2816352" cy="3520440"/>
          </a:xfrm>
          <a:prstGeom prst="roundRect">
            <a:avLst>
              <a:gd name="adj" fmla="val 3247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3"/>
          <p:cNvSpPr/>
          <p:nvPr/>
        </p:nvSpPr>
        <p:spPr>
          <a:xfrm>
            <a:off x="6300216" y="1536192"/>
            <a:ext cx="502920" cy="502920"/>
          </a:xfrm>
          <a:prstGeom prst="ellipse">
            <a:avLst/>
          </a:prstGeom>
          <a:solidFill>
            <a:srgbClr val="E0973D"/>
          </a:solidFill>
          <a:ln w="12700">
            <a:solidFill>
              <a:srgbClr val="E0973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1645920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76288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Pengukuran Lanjut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300216" y="2084832"/>
            <a:ext cx="2606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Jittakort &amp; Aurasopon (2025): Arus adaptif PWM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Areekath et al. (2021): DIC kapasitif seri R+C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Wani et al. (2022): Relaxation oscillator R-C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Hidalgo-López et al. (2021): Two-capacitor DIC FPGA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Hidalgo-López &amp; Castellanos-Ramos (2023): R-to-T-to-D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274320" y="4681728"/>
            <a:ext cx="2816352" cy="320040"/>
          </a:xfrm>
          <a:prstGeom prst="roundRect">
            <a:avLst>
              <a:gd name="adj" fmla="val 14286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17"/>
          <p:cNvSpPr/>
          <p:nvPr/>
        </p:nvSpPr>
        <p:spPr>
          <a:xfrm>
            <a:off x="274320" y="468172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Jurnal Acuan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218688" y="4681728"/>
            <a:ext cx="2816352" cy="320040"/>
          </a:xfrm>
          <a:prstGeom prst="roundRect">
            <a:avLst>
              <a:gd name="adj" fmla="val 14286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19"/>
          <p:cNvSpPr/>
          <p:nvPr/>
        </p:nvSpPr>
        <p:spPr>
          <a:xfrm>
            <a:off x="3218688" y="468172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2021–2026  Rentang Tahun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163056" y="4681728"/>
            <a:ext cx="2816352" cy="320040"/>
          </a:xfrm>
          <a:prstGeom prst="roundRect">
            <a:avLst>
              <a:gd name="adj" fmla="val 14286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1"/>
          <p:cNvSpPr/>
          <p:nvPr/>
        </p:nvSpPr>
        <p:spPr>
          <a:xfrm>
            <a:off x="6163056" y="468172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FW  Future Works Terintegrasi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3163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STUDI LITERATUR — FUTURE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Integrasi Future Works FW1–FW15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005840" cy="1097280"/>
          </a:xfrm>
          <a:prstGeom prst="roundRect">
            <a:avLst>
              <a:gd name="adj" fmla="val 9091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FW1–5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DIC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63040" y="141732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 pada MCU 32-bit modern, multi-sensor, impedansi kompleks, non-idealitas, DIC di ESP32/ARM Rust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1005840" cy="1097280"/>
          </a:xfrm>
          <a:prstGeom prst="roundRect">
            <a:avLst>
              <a:gd name="adj" fmla="val 9091"/>
            </a:avLst>
          </a:prstGeom>
          <a:solidFill>
            <a:srgbClr val="D9882F"/>
          </a:solidFill>
          <a:ln w="12700">
            <a:solidFill>
              <a:srgbClr val="D9882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365760" y="2606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FW6–10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30175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Kompensasi &amp; ADC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63040" y="265176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Kompensasi kabel MCU clock tinggi, filter digital ESP32, validasi non-RTD &amp; IoT, siklus tunggal, ketidakpastian resistansi tinggi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1005840" cy="1097280"/>
          </a:xfrm>
          <a:prstGeom prst="roundRect">
            <a:avLst>
              <a:gd name="adj" fmla="val 9091"/>
            </a:avLst>
          </a:prstGeom>
          <a:solidFill>
            <a:srgbClr val="E0973D"/>
          </a:solidFill>
          <a:ln w="12700">
            <a:solidFill>
              <a:srgbClr val="E0973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365760" y="38404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FW11–15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" y="42519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&amp; ESP32-S3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63040" y="388620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Latensi interupsi Rust OS, evaluasi Embassy/RTIC sensor real-time, benchmark Rust vs C ESP32, IoT non-Arduino, integritas firmware Rust ESP32-S3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20040"/>
          </a:xfrm>
          <a:prstGeom prst="roundRect">
            <a:avLst>
              <a:gd name="adj" fmla="val 14286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Semua FW mengarah pada: implementasi MCU modern 32-bit dengan bahasa memory-safe (Rust) dan kompensasi kabel real-time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2D6E8E">
              <a:alpha val="22000"/>
            </a:srgbClr>
          </a:solidFill>
          <a:ln w="12700">
            <a:solidFill>
              <a:srgbClr val="2D6E8E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E0973D">
              <a:alpha val="18000"/>
            </a:srgbClr>
          </a:solidFill>
          <a:ln w="12700">
            <a:solidFill>
              <a:srgbClr val="E0973D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Metode Baru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Diusulkan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Divider Dual-ADC 3-Wire pada ESP32-S3 dengan Rust —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A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Mengintegrasikan FW1–FW15 dari 15 jurnal acuan.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6314A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Blok Diagram Sistem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51760" y="38862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6314A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265176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Flowchart Algoritma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38862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6314A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75488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Deskripsi Metode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0" y="38862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6314A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685800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Rust Crates yang Digunakan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52430-1F55-6142-FCEB-342B86B1C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741F7C1C-9918-373B-AD55-802B88B14D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714" b="20119"/>
          <a:stretch>
            <a:fillRect/>
          </a:stretch>
        </p:blipFill>
        <p:spPr>
          <a:xfrm>
            <a:off x="1970629" y="178101"/>
            <a:ext cx="5202742" cy="3286439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61E4039-3110-034B-6576-00AD0B8360D1}"/>
              </a:ext>
            </a:extLst>
          </p:cNvPr>
          <p:cNvSpPr/>
          <p:nvPr/>
        </p:nvSpPr>
        <p:spPr>
          <a:xfrm>
            <a:off x="365760" y="256032"/>
            <a:ext cx="2011680" cy="246888"/>
          </a:xfrm>
          <a:prstGeom prst="roundRect">
            <a:avLst>
              <a:gd name="adj" fmla="val 18519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DF7A27-ED6B-BFF3-8B7A-95CFE2D70C92}"/>
              </a:ext>
            </a:extLst>
          </p:cNvPr>
          <p:cNvSpPr/>
          <p:nvPr/>
        </p:nvSpPr>
        <p:spPr>
          <a:xfrm>
            <a:off x="384048" y="256032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METODE BARU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A61BFE-3514-4F80-BECC-3C316B67FD91}"/>
              </a:ext>
            </a:extLst>
          </p:cNvPr>
          <p:cNvSpPr/>
          <p:nvPr/>
        </p:nvSpPr>
        <p:spPr>
          <a:xfrm>
            <a:off x="5560695" y="113030"/>
            <a:ext cx="305181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Blok Diagram Sistem</a:t>
            </a:r>
            <a:endParaRPr lang="en-US" sz="2200" dirty="0"/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CD86EE6C-3AA0-196C-82D6-221D2ED158A1}"/>
              </a:ext>
            </a:extLst>
          </p:cNvPr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ECE6352F-177D-B298-AA80-772CD65F0F32}"/>
              </a:ext>
            </a:extLst>
          </p:cNvPr>
          <p:cNvSpPr/>
          <p:nvPr/>
        </p:nvSpPr>
        <p:spPr>
          <a:xfrm>
            <a:off x="365760" y="2907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Pin ESP32-S3</a:t>
            </a:r>
            <a:endParaRPr lang="en-US" sz="1400" dirty="0"/>
          </a:p>
        </p:txBody>
      </p:sp>
      <p:graphicFrame>
        <p:nvGraphicFramePr>
          <p:cNvPr id="41" name="Table 0">
            <a:extLst>
              <a:ext uri="{FF2B5EF4-FFF2-40B4-BE49-F238E27FC236}">
                <a16:creationId xmlns:a16="http://schemas.microsoft.com/office/drawing/2014/main" id="{850782F8-A18D-5060-0376-029EA1FB3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7409"/>
              </p:ext>
            </p:extLst>
          </p:nvPr>
        </p:nvGraphicFramePr>
        <p:xfrm>
          <a:off x="365760" y="3246120"/>
          <a:ext cx="8412480" cy="15544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Keterangan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 Channel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Membaca Vtotal di Node A (sebelum Rw1)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 Channel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Membaca Vsense di wiper sensor (setelah Rw1)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Indicator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Menyala jika error &lt; 5% (pengukuran stabil)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3.3V / GND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Tegangan eksitasi dan referensi ground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1725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011680" cy="246888"/>
          </a:xfrm>
          <a:prstGeom prst="roundRect">
            <a:avLst>
              <a:gd name="adj" fmla="val 18519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METODE BARU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560695" y="113030"/>
            <a:ext cx="305181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Blok Diagram Sistem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417320" cy="1280160"/>
          </a:xfrm>
          <a:prstGeom prst="roundRect">
            <a:avLst>
              <a:gd name="adj" fmla="val 5714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  <a:effectLst>
            <a:outerShdw blurRad="127000" dist="25400" dir="2700000" algn="bl" rotWithShape="0">
              <a:srgbClr val="2D6E8E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274320" y="11704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Resistif (Rx)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Potensiometer 10 kΩ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Rw1 (4.7 Ω)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Rw2 (4.7 Ω)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664208" y="1737360"/>
            <a:ext cx="256032" cy="0"/>
          </a:xfrm>
          <a:prstGeom prst="line">
            <a:avLst/>
          </a:prstGeom>
          <a:noFill/>
          <a:ln w="19050">
            <a:solidFill>
              <a:srgbClr val="E0973D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1920240" y="1097280"/>
            <a:ext cx="1417320" cy="1280160"/>
          </a:xfrm>
          <a:prstGeom prst="roundRect">
            <a:avLst>
              <a:gd name="adj" fmla="val 5714"/>
            </a:avLst>
          </a:prstGeom>
          <a:solidFill>
            <a:srgbClr val="D9882F"/>
          </a:solidFill>
          <a:ln w="12700">
            <a:solidFill>
              <a:srgbClr val="D9882F"/>
            </a:solidFill>
            <a:prstDash val="solid"/>
          </a:ln>
          <a:effectLst>
            <a:outerShdw blurRad="127000" dist="25400" dir="2700000" algn="bl" rotWithShape="0">
              <a:srgbClr val="2D6E8E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1965960" y="11704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Divider Network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65960" y="150876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Rref = 10 kΩ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3-Kawat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55848" y="1737360"/>
            <a:ext cx="237744" cy="0"/>
          </a:xfrm>
          <a:prstGeom prst="line">
            <a:avLst/>
          </a:prstGeom>
          <a:noFill/>
          <a:ln w="19050">
            <a:solidFill>
              <a:srgbClr val="E0973D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3611880" y="109728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  <a:effectLst>
            <a:outerShdw blurRad="127000" dist="25400" dir="2700000" algn="bl" rotWithShape="0">
              <a:srgbClr val="2D6E8E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3657600" y="1170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Dual ADC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0" y="1508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GPIO9 → ADC Ch.1 (Vtotal)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GPIO10 → ADC Ch.2 (Vsense)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 (0–4095)</a:t>
            </a:r>
          </a:p>
          <a:p>
            <a:pPr algn="ctr"/>
            <a:r>
              <a:rPr lang="en-US" sz="700" i="1" dirty="0">
                <a:solidFill>
                  <a:srgbClr val="D98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GPIO4 → LED </a:t>
            </a:r>
            <a:r>
              <a:rPr lang="en-US" sz="7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</a:t>
            </a: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algn="ctr"/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(Error &lt; 5% = ON)</a:t>
            </a:r>
          </a:p>
        </p:txBody>
      </p:sp>
      <p:sp>
        <p:nvSpPr>
          <p:cNvPr id="16" name="Shape 14"/>
          <p:cNvSpPr/>
          <p:nvPr/>
        </p:nvSpPr>
        <p:spPr>
          <a:xfrm>
            <a:off x="5184648" y="1737360"/>
            <a:ext cx="256032" cy="0"/>
          </a:xfrm>
          <a:prstGeom prst="line">
            <a:avLst/>
          </a:prstGeom>
          <a:noFill/>
          <a:ln w="19050">
            <a:solidFill>
              <a:srgbClr val="E0973D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5440680" y="1097280"/>
            <a:ext cx="1371600" cy="1280160"/>
          </a:xfrm>
          <a:prstGeom prst="roundRect">
            <a:avLst>
              <a:gd name="adj" fmla="val 5714"/>
            </a:avLst>
          </a:prstGeom>
          <a:solidFill>
            <a:srgbClr val="D9882F"/>
          </a:solidFill>
          <a:ln w="12700">
            <a:solidFill>
              <a:srgbClr val="D9882F"/>
            </a:solidFill>
            <a:prstDash val="solid"/>
          </a:ln>
          <a:effectLst>
            <a:outerShdw blurRad="127000" dist="25400" dir="2700000" algn="bl" rotWithShape="0">
              <a:srgbClr val="2D6E8E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5486400" y="11704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Rust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0" y="1508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esp-hal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16-sample avg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Kalkulasi Rx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Kompensasi error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830568" y="1737360"/>
            <a:ext cx="256032" cy="0"/>
          </a:xfrm>
          <a:prstGeom prst="line">
            <a:avLst/>
          </a:prstGeom>
          <a:noFill/>
          <a:ln w="19050">
            <a:solidFill>
              <a:srgbClr val="E0973D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7086600" y="1097280"/>
            <a:ext cx="914400" cy="1280160"/>
          </a:xfrm>
          <a:prstGeom prst="roundRect">
            <a:avLst>
              <a:gd name="adj" fmla="val 8000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  <a:effectLst>
            <a:outerShdw blurRad="127000" dist="25400" dir="2700000" algn="bl" rotWithShape="0">
              <a:srgbClr val="2D6E8E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7132320" y="11704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Output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13232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kolom data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Serial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019288" y="1737360"/>
            <a:ext cx="256032" cy="0"/>
          </a:xfrm>
          <a:prstGeom prst="line">
            <a:avLst/>
          </a:prstGeom>
          <a:noFill/>
          <a:ln w="19050">
            <a:solidFill>
              <a:srgbClr val="E0973D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ID"/>
          </a:p>
        </p:txBody>
      </p:sp>
      <p:sp>
        <p:nvSpPr>
          <p:cNvPr id="25" name="Shape 23"/>
          <p:cNvSpPr/>
          <p:nvPr/>
        </p:nvSpPr>
        <p:spPr>
          <a:xfrm>
            <a:off x="8275320" y="1097280"/>
            <a:ext cx="822960" cy="1280160"/>
          </a:xfrm>
          <a:prstGeom prst="roundRect">
            <a:avLst>
              <a:gd name="adj" fmla="val 888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27000" dist="25400" dir="2700000" algn="bl" rotWithShape="0">
              <a:srgbClr val="2D6E8E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8321040" y="117043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+ GNUPlot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21040" y="15087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Analisis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65760" y="2907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Pin ESP32-S3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46120"/>
          <a:ext cx="8412480" cy="15544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Keterangan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 Channel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Membaca Vtotal di Node A (sebelum Rw1)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 Channel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Membaca Vsense di wiper sensor (setelah Rw1)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Indicator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Menyala jika error &lt; 5% (pengukuran stabil)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3.3V / GND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Tegangan eksitasi dan referensi ground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D5F4FA1D-A61D-B9D1-9157-F9A3985C287D}"/>
              </a:ext>
            </a:extLst>
          </p:cNvPr>
          <p:cNvCxnSpPr>
            <a:endCxn id="9" idx="0"/>
          </p:cNvCxnSpPr>
          <p:nvPr/>
        </p:nvCxnSpPr>
        <p:spPr>
          <a:xfrm>
            <a:off x="1965960" y="660400"/>
            <a:ext cx="662940" cy="43688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 26">
            <a:extLst>
              <a:ext uri="{FF2B5EF4-FFF2-40B4-BE49-F238E27FC236}">
                <a16:creationId xmlns:a16="http://schemas.microsoft.com/office/drawing/2014/main" id="{B7BBD3AF-299F-EA13-9BAA-28B19C19F8E4}"/>
              </a:ext>
            </a:extLst>
          </p:cNvPr>
          <p:cNvSpPr/>
          <p:nvPr/>
        </p:nvSpPr>
        <p:spPr>
          <a:xfrm>
            <a:off x="1562989" y="521717"/>
            <a:ext cx="458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98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</a:t>
            </a:r>
            <a:endParaRPr lang="en-US" sz="8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1B63FB-A542-F3A5-3018-77C789FAD6DD}"/>
              </a:ext>
            </a:extLst>
          </p:cNvPr>
          <p:cNvCxnSpPr>
            <a:stCxn id="9" idx="2"/>
          </p:cNvCxnSpPr>
          <p:nvPr/>
        </p:nvCxnSpPr>
        <p:spPr>
          <a:xfrm>
            <a:off x="2628900" y="2377440"/>
            <a:ext cx="0" cy="3657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 26">
            <a:extLst>
              <a:ext uri="{FF2B5EF4-FFF2-40B4-BE49-F238E27FC236}">
                <a16:creationId xmlns:a16="http://schemas.microsoft.com/office/drawing/2014/main" id="{90AD2CFE-59AE-2B51-775F-D37111CABAFD}"/>
              </a:ext>
            </a:extLst>
          </p:cNvPr>
          <p:cNvSpPr/>
          <p:nvPr/>
        </p:nvSpPr>
        <p:spPr>
          <a:xfrm>
            <a:off x="2399665" y="2749551"/>
            <a:ext cx="458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98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011680" cy="246888"/>
          </a:xfrm>
          <a:prstGeom prst="roundRect">
            <a:avLst>
              <a:gd name="adj" fmla="val 18519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METODE BARU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 Algoritma Dual-ADC 3-Kawat</a:t>
            </a:r>
            <a:endParaRPr lang="en-US" sz="22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EAECDECD-A690-CE0D-A778-3C53AE8E5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558" y="1097280"/>
            <a:ext cx="3668884" cy="3668884"/>
          </a:xfrm>
          <a:prstGeom prst="rect">
            <a:avLst/>
          </a:prstGeom>
        </p:spPr>
      </p:pic>
      <p:sp>
        <p:nvSpPr>
          <p:cNvPr id="53" name="Text 48">
            <a:extLst>
              <a:ext uri="{FF2B5EF4-FFF2-40B4-BE49-F238E27FC236}">
                <a16:creationId xmlns:a16="http://schemas.microsoft.com/office/drawing/2014/main" id="{E24EC249-2CFE-D8F0-5853-0C6D81712874}"/>
              </a:ext>
            </a:extLst>
          </p:cNvPr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7DAFBF-2E18-A842-BD76-423453365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66FA2E-9514-3B46-CFC6-248A4536FC6A}"/>
              </a:ext>
            </a:extLst>
          </p:cNvPr>
          <p:cNvSpPr/>
          <p:nvPr/>
        </p:nvSpPr>
        <p:spPr>
          <a:xfrm>
            <a:off x="365760" y="256032"/>
            <a:ext cx="2011680" cy="246888"/>
          </a:xfrm>
          <a:prstGeom prst="roundRect">
            <a:avLst>
              <a:gd name="adj" fmla="val 18519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AD826B-DA93-E347-4886-64B0F8554E38}"/>
              </a:ext>
            </a:extLst>
          </p:cNvPr>
          <p:cNvSpPr/>
          <p:nvPr/>
        </p:nvSpPr>
        <p:spPr>
          <a:xfrm>
            <a:off x="384048" y="256032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METODE BARU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1635DB-AE37-1C7E-C006-E0AA5733ED03}"/>
              </a:ext>
            </a:extLst>
          </p:cNvPr>
          <p:cNvSpPr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 Algoritma Dual-ADC 3-Kawat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6626C32-411E-11AF-7195-F2EBE2035235}"/>
              </a:ext>
            </a:extLst>
          </p:cNvPr>
          <p:cNvSpPr/>
          <p:nvPr/>
        </p:nvSpPr>
        <p:spPr>
          <a:xfrm>
            <a:off x="274320" y="1188720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FE33A26-1715-4F6B-A0A1-5392603F36EF}"/>
              </a:ext>
            </a:extLst>
          </p:cNvPr>
          <p:cNvSpPr/>
          <p:nvPr/>
        </p:nvSpPr>
        <p:spPr>
          <a:xfrm>
            <a:off x="274320" y="1188720"/>
            <a:ext cx="438912" cy="658368"/>
          </a:xfrm>
          <a:prstGeom prst="roundRect">
            <a:avLst>
              <a:gd name="adj" fmla="val 16667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F00C05C-1DDF-6CA7-A127-2303F25EF0CF}"/>
              </a:ext>
            </a:extLst>
          </p:cNvPr>
          <p:cNvSpPr/>
          <p:nvPr/>
        </p:nvSpPr>
        <p:spPr>
          <a:xfrm>
            <a:off x="274320" y="118872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DFBD170-4455-02F3-53AD-8EBD3F3C8727}"/>
              </a:ext>
            </a:extLst>
          </p:cNvPr>
          <p:cNvSpPr/>
          <p:nvPr/>
        </p:nvSpPr>
        <p:spPr>
          <a:xfrm>
            <a:off x="777240" y="12435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Inisialisasi</a:t>
            </a:r>
            <a:endParaRPr lang="en-US" sz="10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CAC12C5-260C-7123-631A-6BB4E5A8DDB9}"/>
              </a:ext>
            </a:extLst>
          </p:cNvPr>
          <p:cNvSpPr/>
          <p:nvPr/>
        </p:nvSpPr>
        <p:spPr>
          <a:xfrm>
            <a:off x="777240" y="14904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ADC1 dual-channel (GPIO9, GPIO10), 11dB atenuasi, GPIO4 LED, UART via esp-hal</a:t>
            </a:r>
            <a:endParaRPr lang="en-US" sz="8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0DCCC56-E3CF-CE71-1538-1D05782AA18D}"/>
              </a:ext>
            </a:extLst>
          </p:cNvPr>
          <p:cNvSpPr/>
          <p:nvPr/>
        </p:nvSpPr>
        <p:spPr>
          <a:xfrm>
            <a:off x="274320" y="1938528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5901F92-4F63-DB87-3273-7388A0326EB6}"/>
              </a:ext>
            </a:extLst>
          </p:cNvPr>
          <p:cNvSpPr/>
          <p:nvPr/>
        </p:nvSpPr>
        <p:spPr>
          <a:xfrm>
            <a:off x="274320" y="1938528"/>
            <a:ext cx="438912" cy="658368"/>
          </a:xfrm>
          <a:prstGeom prst="roundRect">
            <a:avLst>
              <a:gd name="adj" fmla="val 16667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55BDF5C-C650-52D9-CA0A-F16960AFD100}"/>
              </a:ext>
            </a:extLst>
          </p:cNvPr>
          <p:cNvSpPr/>
          <p:nvPr/>
        </p:nvSpPr>
        <p:spPr>
          <a:xfrm>
            <a:off x="274320" y="193852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45A907E-114F-9A8F-B023-2FD9E3B93877}"/>
              </a:ext>
            </a:extLst>
          </p:cNvPr>
          <p:cNvSpPr/>
          <p:nvPr/>
        </p:nvSpPr>
        <p:spPr>
          <a:xfrm>
            <a:off x="777240" y="19933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ADC</a:t>
            </a: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3088ABD-2543-CE32-F8DB-44B296456514}"/>
              </a:ext>
            </a:extLst>
          </p:cNvPr>
          <p:cNvSpPr/>
          <p:nvPr/>
        </p:nvSpPr>
        <p:spPr>
          <a:xfrm>
            <a:off x="777240" y="2240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tegangan dua titik simultan: Vtotal (Node A) dan Vsense (wiper sensor)</a:t>
            </a:r>
            <a:endParaRPr lang="en-US" sz="8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2C41EFC-CD33-4A7A-040D-626EB659074A}"/>
              </a:ext>
            </a:extLst>
          </p:cNvPr>
          <p:cNvSpPr/>
          <p:nvPr/>
        </p:nvSpPr>
        <p:spPr>
          <a:xfrm>
            <a:off x="274320" y="2688336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6EB0CB8-786A-9268-521A-CD4CB35F8F5D}"/>
              </a:ext>
            </a:extLst>
          </p:cNvPr>
          <p:cNvSpPr/>
          <p:nvPr/>
        </p:nvSpPr>
        <p:spPr>
          <a:xfrm>
            <a:off x="274320" y="2688336"/>
            <a:ext cx="438912" cy="658368"/>
          </a:xfrm>
          <a:prstGeom prst="roundRect">
            <a:avLst>
              <a:gd name="adj" fmla="val 16667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7DF1845-6C39-DB5C-21EE-2BC0AF6B7A71}"/>
              </a:ext>
            </a:extLst>
          </p:cNvPr>
          <p:cNvSpPr/>
          <p:nvPr/>
        </p:nvSpPr>
        <p:spPr>
          <a:xfrm>
            <a:off x="274320" y="2688336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A6AF2A4-3CF0-14FA-E952-B09253676F0C}"/>
              </a:ext>
            </a:extLst>
          </p:cNvPr>
          <p:cNvSpPr/>
          <p:nvPr/>
        </p:nvSpPr>
        <p:spPr>
          <a:xfrm>
            <a:off x="777240" y="2743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16 Sampel</a:t>
            </a: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15AE077-FE51-6595-AA35-91821C4C28E4}"/>
              </a:ext>
            </a:extLst>
          </p:cNvPr>
          <p:cNvSpPr/>
          <p:nvPr/>
        </p:nvSpPr>
        <p:spPr>
          <a:xfrm>
            <a:off x="777240" y="2990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16 sampel per channel untuk meredam noise ADC</a:t>
            </a:r>
            <a:endParaRPr lang="en-US" sz="8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59F292F-2783-87BA-C08C-EF8E9959E02E}"/>
              </a:ext>
            </a:extLst>
          </p:cNvPr>
          <p:cNvSpPr/>
          <p:nvPr/>
        </p:nvSpPr>
        <p:spPr>
          <a:xfrm>
            <a:off x="274320" y="3438144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E8969B4-B9AE-C9A5-E0D4-5726F1C66BFC}"/>
              </a:ext>
            </a:extLst>
          </p:cNvPr>
          <p:cNvSpPr/>
          <p:nvPr/>
        </p:nvSpPr>
        <p:spPr>
          <a:xfrm>
            <a:off x="274320" y="3438144"/>
            <a:ext cx="438912" cy="658368"/>
          </a:xfrm>
          <a:prstGeom prst="roundRect">
            <a:avLst>
              <a:gd name="adj" fmla="val 16667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CBBBA47-E263-4E80-BD17-DBED4053FFAE}"/>
              </a:ext>
            </a:extLst>
          </p:cNvPr>
          <p:cNvSpPr/>
          <p:nvPr/>
        </p:nvSpPr>
        <p:spPr>
          <a:xfrm>
            <a:off x="274320" y="3438144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AF7CDC5-14CE-5AFF-D731-85FE23434314}"/>
              </a:ext>
            </a:extLst>
          </p:cNvPr>
          <p:cNvSpPr/>
          <p:nvPr/>
        </p:nvSpPr>
        <p:spPr>
          <a:xfrm>
            <a:off x="777240" y="34930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Rx_raw</a:t>
            </a:r>
            <a:endParaRPr lang="en-US" sz="10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E4F3871-BB2D-DA00-1786-0DE1CF1E1A7B}"/>
              </a:ext>
            </a:extLst>
          </p:cNvPr>
          <p:cNvSpPr/>
          <p:nvPr/>
        </p:nvSpPr>
        <p:spPr>
          <a:xfrm>
            <a:off x="777240" y="37398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Rx_raw = Rref × Vtotal / (Vsupply − Vtotal)  →  mengandung error kabel</a:t>
            </a:r>
            <a:endParaRPr lang="en-US" sz="8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1062679-FB15-6CEE-74CC-9DB173C2DFB6}"/>
              </a:ext>
            </a:extLst>
          </p:cNvPr>
          <p:cNvSpPr/>
          <p:nvPr/>
        </p:nvSpPr>
        <p:spPr>
          <a:xfrm>
            <a:off x="274320" y="4187952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06D10E7-CA18-EF21-DC69-C3CB66869C8E}"/>
              </a:ext>
            </a:extLst>
          </p:cNvPr>
          <p:cNvSpPr/>
          <p:nvPr/>
        </p:nvSpPr>
        <p:spPr>
          <a:xfrm>
            <a:off x="274320" y="4187952"/>
            <a:ext cx="438912" cy="658368"/>
          </a:xfrm>
          <a:prstGeom prst="roundRect">
            <a:avLst>
              <a:gd name="adj" fmla="val 16667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803A0B1-7828-B674-E070-E42A13FE7A1C}"/>
              </a:ext>
            </a:extLst>
          </p:cNvPr>
          <p:cNvSpPr/>
          <p:nvPr/>
        </p:nvSpPr>
        <p:spPr>
          <a:xfrm>
            <a:off x="274320" y="418795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B7B47F8-CE4A-8189-9169-D5270E0EDAA5}"/>
              </a:ext>
            </a:extLst>
          </p:cNvPr>
          <p:cNvSpPr/>
          <p:nvPr/>
        </p:nvSpPr>
        <p:spPr>
          <a:xfrm>
            <a:off x="777240" y="42428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Rx_komp</a:t>
            </a:r>
            <a:endParaRPr lang="en-US" sz="10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F46D1AF-65FD-F850-3F5F-C2C30A5C1607}"/>
              </a:ext>
            </a:extLst>
          </p:cNvPr>
          <p:cNvSpPr/>
          <p:nvPr/>
        </p:nvSpPr>
        <p:spPr>
          <a:xfrm>
            <a:off x="777240" y="44897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Rx_komp = Rref × Vsense / (Vsupply − Vsense)  →  setelah kompensasi</a:t>
            </a:r>
            <a:endParaRPr lang="en-US" sz="8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ADA6A05-7C97-6595-1C14-E85E5D5F1AA0}"/>
              </a:ext>
            </a:extLst>
          </p:cNvPr>
          <p:cNvSpPr/>
          <p:nvPr/>
        </p:nvSpPr>
        <p:spPr>
          <a:xfrm>
            <a:off x="4846320" y="118872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56B348D-C636-091E-1B69-69610EF88DFE}"/>
              </a:ext>
            </a:extLst>
          </p:cNvPr>
          <p:cNvSpPr/>
          <p:nvPr/>
        </p:nvSpPr>
        <p:spPr>
          <a:xfrm>
            <a:off x="4846320" y="1188720"/>
            <a:ext cx="438912" cy="658368"/>
          </a:xfrm>
          <a:prstGeom prst="roundRect">
            <a:avLst>
              <a:gd name="adj" fmla="val 16667"/>
            </a:avLst>
          </a:prstGeom>
          <a:solidFill>
            <a:srgbClr val="D9882F"/>
          </a:solidFill>
          <a:ln w="12700">
            <a:solidFill>
              <a:srgbClr val="D9882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D77E44F-91DF-B1B8-38D6-FF12A53581EC}"/>
              </a:ext>
            </a:extLst>
          </p:cNvPr>
          <p:cNvSpPr/>
          <p:nvPr/>
        </p:nvSpPr>
        <p:spPr>
          <a:xfrm>
            <a:off x="4846320" y="118872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C3660853-344B-934A-B503-9278FC36ADEA}"/>
              </a:ext>
            </a:extLst>
          </p:cNvPr>
          <p:cNvSpPr/>
          <p:nvPr/>
        </p:nvSpPr>
        <p:spPr>
          <a:xfrm>
            <a:off x="5349240" y="12435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Error%</a:t>
            </a:r>
            <a:endParaRPr lang="en-US" sz="10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77B1D9E-EA0D-ACD7-063C-C87BB3913E93}"/>
              </a:ext>
            </a:extLst>
          </p:cNvPr>
          <p:cNvSpPr/>
          <p:nvPr/>
        </p:nvSpPr>
        <p:spPr>
          <a:xfrm>
            <a:off x="5349240" y="1490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Error% = (Rx_raw − Rx_komp) / Rx_komp × 100%</a:t>
            </a:r>
            <a:endParaRPr lang="en-US" sz="8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D2D8419-9C3F-D700-A00A-91E349AD2A87}"/>
              </a:ext>
            </a:extLst>
          </p:cNvPr>
          <p:cNvSpPr/>
          <p:nvPr/>
        </p:nvSpPr>
        <p:spPr>
          <a:xfrm>
            <a:off x="4846320" y="1938528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2195668-B50D-8B79-7F9E-F9E5EAC45E9B}"/>
              </a:ext>
            </a:extLst>
          </p:cNvPr>
          <p:cNvSpPr/>
          <p:nvPr/>
        </p:nvSpPr>
        <p:spPr>
          <a:xfrm>
            <a:off x="4846320" y="1938528"/>
            <a:ext cx="438912" cy="658368"/>
          </a:xfrm>
          <a:prstGeom prst="roundRect">
            <a:avLst>
              <a:gd name="adj" fmla="val 16667"/>
            </a:avLst>
          </a:prstGeom>
          <a:solidFill>
            <a:srgbClr val="D9882F"/>
          </a:solidFill>
          <a:ln w="12700">
            <a:solidFill>
              <a:srgbClr val="D9882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1DE7CEF-994C-5D03-9BF4-6F9AF232E754}"/>
              </a:ext>
            </a:extLst>
          </p:cNvPr>
          <p:cNvSpPr/>
          <p:nvPr/>
        </p:nvSpPr>
        <p:spPr>
          <a:xfrm>
            <a:off x="4846320" y="193852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28B28609-6CE5-E656-6BC0-58E508AD6391}"/>
              </a:ext>
            </a:extLst>
          </p:cNvPr>
          <p:cNvSpPr/>
          <p:nvPr/>
        </p:nvSpPr>
        <p:spPr>
          <a:xfrm>
            <a:off x="5349240" y="19933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Indicator</a:t>
            </a:r>
            <a:endParaRPr lang="en-US" sz="10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8280D1D-1235-9DA2-F619-6D2064E1B9E1}"/>
              </a:ext>
            </a:extLst>
          </p:cNvPr>
          <p:cNvSpPr/>
          <p:nvPr/>
        </p:nvSpPr>
        <p:spPr>
          <a:xfrm>
            <a:off x="534924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ON (GPIO4 HIGH) jika Error% &lt; 5%, OFF jika sebaliknya</a:t>
            </a:r>
            <a:endParaRPr lang="en-US" sz="8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9A8AD142-59D4-F1E4-7699-E29CBCF56202}"/>
              </a:ext>
            </a:extLst>
          </p:cNvPr>
          <p:cNvSpPr/>
          <p:nvPr/>
        </p:nvSpPr>
        <p:spPr>
          <a:xfrm>
            <a:off x="4846320" y="2688336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A1229072-D67C-524D-E7D9-830D6FAFEC20}"/>
              </a:ext>
            </a:extLst>
          </p:cNvPr>
          <p:cNvSpPr/>
          <p:nvPr/>
        </p:nvSpPr>
        <p:spPr>
          <a:xfrm>
            <a:off x="4846320" y="2688336"/>
            <a:ext cx="438912" cy="658368"/>
          </a:xfrm>
          <a:prstGeom prst="roundRect">
            <a:avLst>
              <a:gd name="adj" fmla="val 16667"/>
            </a:avLst>
          </a:prstGeom>
          <a:solidFill>
            <a:srgbClr val="D9882F"/>
          </a:solidFill>
          <a:ln w="12700">
            <a:solidFill>
              <a:srgbClr val="D9882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97B0C19B-3444-FC21-CF40-2AEA4893E741}"/>
              </a:ext>
            </a:extLst>
          </p:cNvPr>
          <p:cNvSpPr/>
          <p:nvPr/>
        </p:nvSpPr>
        <p:spPr>
          <a:xfrm>
            <a:off x="4846320" y="2688336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9B73DDE-27E5-2A21-2069-4A8157F72F40}"/>
              </a:ext>
            </a:extLst>
          </p:cNvPr>
          <p:cNvSpPr/>
          <p:nvPr/>
        </p:nvSpPr>
        <p:spPr>
          <a:xfrm>
            <a:off x="5349240" y="2743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UART</a:t>
            </a:r>
            <a:endParaRPr lang="en-US" sz="105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978DE50F-8C29-805D-D63C-A1E773FCE2C6}"/>
              </a:ext>
            </a:extLst>
          </p:cNvPr>
          <p:cNvSpPr/>
          <p:nvPr/>
        </p:nvSpPr>
        <p:spPr>
          <a:xfrm>
            <a:off x="5349240" y="29900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7 kolom data: ADC1, ADC2, Vtotal, Vsense, Rx_raw, Rx_komp, Error%</a:t>
            </a:r>
            <a:endParaRPr lang="en-US" sz="85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168C2A9C-2F8E-FE03-C89A-3BD32A439C00}"/>
              </a:ext>
            </a:extLst>
          </p:cNvPr>
          <p:cNvSpPr/>
          <p:nvPr/>
        </p:nvSpPr>
        <p:spPr>
          <a:xfrm>
            <a:off x="4846320" y="3438144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80C7FFF6-E6DD-3B58-83DE-0ACFBD4171D4}"/>
              </a:ext>
            </a:extLst>
          </p:cNvPr>
          <p:cNvSpPr/>
          <p:nvPr/>
        </p:nvSpPr>
        <p:spPr>
          <a:xfrm>
            <a:off x="4846320" y="3438144"/>
            <a:ext cx="438912" cy="658368"/>
          </a:xfrm>
          <a:prstGeom prst="roundRect">
            <a:avLst>
              <a:gd name="adj" fmla="val 16667"/>
            </a:avLst>
          </a:prstGeom>
          <a:solidFill>
            <a:srgbClr val="D9882F"/>
          </a:solidFill>
          <a:ln w="12700">
            <a:solidFill>
              <a:srgbClr val="D9882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1CC54E78-577D-172A-C22D-54B8D4904BAF}"/>
              </a:ext>
            </a:extLst>
          </p:cNvPr>
          <p:cNvSpPr/>
          <p:nvPr/>
        </p:nvSpPr>
        <p:spPr>
          <a:xfrm>
            <a:off x="4846320" y="3438144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1FB4646F-2112-B5C1-AB9D-C8AA403F3BFF}"/>
              </a:ext>
            </a:extLst>
          </p:cNvPr>
          <p:cNvSpPr/>
          <p:nvPr/>
        </p:nvSpPr>
        <p:spPr>
          <a:xfrm>
            <a:off x="5349240" y="34930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500 ms</a:t>
            </a:r>
            <a:endParaRPr lang="en-US" sz="105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913BEC5F-090F-F569-6670-7D94DE60F88F}"/>
              </a:ext>
            </a:extLst>
          </p:cNvPr>
          <p:cNvSpPr/>
          <p:nvPr/>
        </p:nvSpPr>
        <p:spPr>
          <a:xfrm>
            <a:off x="5349240" y="37398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Kembali ke langkah 02 setiap 500 ms — akuisisi berkelanjutan</a:t>
            </a:r>
            <a:endParaRPr lang="en-US" sz="85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0050FA30-74FB-DD40-27BA-5502CB7253A1}"/>
              </a:ext>
            </a:extLst>
          </p:cNvPr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2510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011680" cy="246888"/>
          </a:xfrm>
          <a:prstGeom prst="roundRect">
            <a:avLst>
              <a:gd name="adj" fmla="val 18519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METODE BARU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Rust Crates &amp; Formula Perhitungan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Crates yang Digunakan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384048" y="1508760"/>
            <a:ext cx="969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esp-hal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63040" y="158191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Abstraction Layer: akses ADC (GPIO9, GPIO10) dan GPIO4 pada ESP32-S3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384048" y="2130552"/>
            <a:ext cx="969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63040" y="220370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abstraction untuk pembacaan ADC oneshot mode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752344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365760" y="2752344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384048" y="2752344"/>
            <a:ext cx="969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esp-println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63040" y="282549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serial via UART untuk transmisi data 7 kolom ke PC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374136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365760" y="3374136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384048" y="3374136"/>
            <a:ext cx="969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esp-backtrace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463040" y="344728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handler untuk debugging firmware embedded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99592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365760" y="3995928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384048" y="3995928"/>
            <a:ext cx="969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esp-bootloader-esp-idf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463040" y="40690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Bootloader kompatibel ESP-IDF untuk ESP32-S3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11155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Perhitungan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150876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4754880" y="156362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Rx_raw (dengan error kabel)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810512"/>
            <a:ext cx="3749040" cy="329184"/>
          </a:xfrm>
          <a:prstGeom prst="roundRect">
            <a:avLst>
              <a:gd name="adj" fmla="val 16667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4754880" y="18105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Rx_raw = Rref × Vtotal / (Vsupply − Vtotal)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350008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2" name="Text 30"/>
          <p:cNvSpPr/>
          <p:nvPr/>
        </p:nvSpPr>
        <p:spPr>
          <a:xfrm>
            <a:off x="4754880" y="24048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Rx_komp (setelah kompensasi)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651760"/>
            <a:ext cx="3749040" cy="329184"/>
          </a:xfrm>
          <a:prstGeom prst="roundRect">
            <a:avLst>
              <a:gd name="adj" fmla="val 16667"/>
            </a:avLst>
          </a:prstGeom>
          <a:solidFill>
            <a:srgbClr val="D9882F"/>
          </a:solidFill>
          <a:ln w="12700">
            <a:solidFill>
              <a:srgbClr val="D9882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32"/>
          <p:cNvSpPr/>
          <p:nvPr/>
        </p:nvSpPr>
        <p:spPr>
          <a:xfrm>
            <a:off x="4754880" y="2651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Rx_komp = Rref × Vsense / (Vsupply − Vsense)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191256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6" name="Text 34"/>
          <p:cNvSpPr/>
          <p:nvPr/>
        </p:nvSpPr>
        <p:spPr>
          <a:xfrm>
            <a:off x="4754880" y="324612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Rw_terukur (hambatan kabel)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493008"/>
            <a:ext cx="3749040" cy="329184"/>
          </a:xfrm>
          <a:prstGeom prst="roundRect">
            <a:avLst>
              <a:gd name="adj" fmla="val 16667"/>
            </a:avLst>
          </a:prstGeom>
          <a:solidFill>
            <a:srgbClr val="E0973D"/>
          </a:solidFill>
          <a:ln w="12700">
            <a:solidFill>
              <a:srgbClr val="E0973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Text 36"/>
          <p:cNvSpPr/>
          <p:nvPr/>
        </p:nvSpPr>
        <p:spPr>
          <a:xfrm>
            <a:off x="4754880" y="34930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Rw_calc = Rx_raw − Rx_komp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4032504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0" name="Text 38"/>
          <p:cNvSpPr/>
          <p:nvPr/>
        </p:nvSpPr>
        <p:spPr>
          <a:xfrm>
            <a:off x="4754880" y="40873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Error% (akibat kabel)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4334256"/>
            <a:ext cx="3749040" cy="329184"/>
          </a:xfrm>
          <a:prstGeom prst="roundRect">
            <a:avLst>
              <a:gd name="adj" fmla="val 16667"/>
            </a:avLst>
          </a:prstGeom>
          <a:solidFill>
            <a:srgbClr val="E0973D"/>
          </a:solidFill>
          <a:ln w="12700">
            <a:solidFill>
              <a:srgbClr val="E0973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2" name="Text 40"/>
          <p:cNvSpPr/>
          <p:nvPr/>
        </p:nvSpPr>
        <p:spPr>
          <a:xfrm>
            <a:off x="4754880" y="43342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Error% = Rw_calc / Rx_komp × 100%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560320" cy="246888"/>
          </a:xfrm>
          <a:prstGeom prst="roundRect">
            <a:avLst>
              <a:gd name="adj" fmla="val 18519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VALIDASI HARDWARE &amp; HASIL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Perangkat &amp; Prosedur Pengujian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&amp; Komponen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384048" cy="384048"/>
          </a:xfrm>
          <a:prstGeom prst="ellipse">
            <a:avLst/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1655064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5087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Mikrokontroller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296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ESP32-S3-DevKitC-1 (Xtensa LX7, 240 MHz, ADC 12-bit)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2212848"/>
            <a:ext cx="384048" cy="384048"/>
          </a:xfrm>
          <a:prstGeom prst="ellipse">
            <a:avLst/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2313432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21671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Emulasi Sensor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822960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Potensiometer 10 kΩ (variabel)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65760" y="2871216"/>
            <a:ext cx="384048" cy="384048"/>
          </a:xfrm>
          <a:prstGeom prst="ellipse">
            <a:avLst/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" y="297180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" y="28254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Rangkaian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822960" y="30540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Rref = 10 kΩ, Rw1 = 4.7 Ω, Rw2 = 4.7 Ω, LED + R_led 100 Ω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365760" y="3529584"/>
            <a:ext cx="384048" cy="384048"/>
          </a:xfrm>
          <a:prstGeom prst="ellipse">
            <a:avLst/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" y="3630168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2960" y="34838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&amp; Toolchain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822960" y="37124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rust-analyzer, espup (Xtensa Rust toolchain)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65760" y="4187952"/>
            <a:ext cx="384048" cy="384048"/>
          </a:xfrm>
          <a:prstGeom prst="ellipse">
            <a:avLst/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" y="4288536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2960" y="41422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822960" y="4370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GNUPlot 6.0 — visualisasi 5 grafik data serial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4663440" y="11155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Prosedur Pengujian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663440" y="146304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8" name="Shape 21"/>
          <p:cNvSpPr/>
          <p:nvPr/>
        </p:nvSpPr>
        <p:spPr>
          <a:xfrm>
            <a:off x="4736592" y="1517904"/>
            <a:ext cx="347472" cy="347472"/>
          </a:xfrm>
          <a:prstGeom prst="ellipse">
            <a:avLst/>
          </a:prstGeom>
          <a:solidFill>
            <a:srgbClr val="D9882F"/>
          </a:solidFill>
          <a:ln w="12700">
            <a:solidFill>
              <a:srgbClr val="D9882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2"/>
          <p:cNvSpPr/>
          <p:nvPr/>
        </p:nvSpPr>
        <p:spPr>
          <a:xfrm>
            <a:off x="4736592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166360" y="1527048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Rakit rangkaian Voltage Divider 3-Kawat di breadboard sesuai skematik Proteus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663440" y="2121408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2" name="Shape 25"/>
          <p:cNvSpPr/>
          <p:nvPr/>
        </p:nvSpPr>
        <p:spPr>
          <a:xfrm>
            <a:off x="4736592" y="2176272"/>
            <a:ext cx="347472" cy="347472"/>
          </a:xfrm>
          <a:prstGeom prst="ellipse">
            <a:avLst/>
          </a:prstGeom>
          <a:solidFill>
            <a:srgbClr val="D9882F"/>
          </a:solidFill>
          <a:ln w="12700">
            <a:solidFill>
              <a:srgbClr val="D9882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26"/>
          <p:cNvSpPr/>
          <p:nvPr/>
        </p:nvSpPr>
        <p:spPr>
          <a:xfrm>
            <a:off x="4736592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166360" y="2185416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firmware Rust ke ESP32-S3: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cargo run --release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663440" y="2779776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6" name="Shape 29"/>
          <p:cNvSpPr/>
          <p:nvPr/>
        </p:nvSpPr>
        <p:spPr>
          <a:xfrm>
            <a:off x="4736592" y="2834640"/>
            <a:ext cx="347472" cy="347472"/>
          </a:xfrm>
          <a:prstGeom prst="ellipse">
            <a:avLst/>
          </a:prstGeom>
          <a:solidFill>
            <a:srgbClr val="D9882F"/>
          </a:solidFill>
          <a:ln w="12700">
            <a:solidFill>
              <a:srgbClr val="D9882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30"/>
          <p:cNvSpPr/>
          <p:nvPr/>
        </p:nvSpPr>
        <p:spPr>
          <a:xfrm>
            <a:off x="4736592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5166360" y="2843784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Putar potensiometer perlahan dari minimum ke maksimum, lalu kembali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4663440" y="3438144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0" name="Shape 33"/>
          <p:cNvSpPr/>
          <p:nvPr/>
        </p:nvSpPr>
        <p:spPr>
          <a:xfrm>
            <a:off x="4736592" y="3493008"/>
            <a:ext cx="347472" cy="347472"/>
          </a:xfrm>
          <a:prstGeom prst="ellipse">
            <a:avLst/>
          </a:prstGeom>
          <a:solidFill>
            <a:srgbClr val="D9882F"/>
          </a:solidFill>
          <a:ln w="12700">
            <a:solidFill>
              <a:srgbClr val="D9882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1" name="Text 34"/>
          <p:cNvSpPr/>
          <p:nvPr/>
        </p:nvSpPr>
        <p:spPr>
          <a:xfrm>
            <a:off x="4736592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5166360" y="3502152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7 kolom otomatis terekam via serial monitor (500 ms/sampel)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4663440" y="4096512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4" name="Shape 37"/>
          <p:cNvSpPr/>
          <p:nvPr/>
        </p:nvSpPr>
        <p:spPr>
          <a:xfrm>
            <a:off x="4736592" y="4151376"/>
            <a:ext cx="347472" cy="347472"/>
          </a:xfrm>
          <a:prstGeom prst="ellipse">
            <a:avLst/>
          </a:prstGeom>
          <a:solidFill>
            <a:srgbClr val="D9882F"/>
          </a:solidFill>
          <a:ln w="12700">
            <a:solidFill>
              <a:srgbClr val="D9882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5" name="Text 38"/>
          <p:cNvSpPr/>
          <p:nvPr/>
        </p:nvSpPr>
        <p:spPr>
          <a:xfrm>
            <a:off x="4736592" y="4151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5166360" y="416052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ke data.dat → jalankan gnuplot plot_all.gp → hasilkan 5 grafik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560320" cy="246888"/>
          </a:xfrm>
          <a:prstGeom prst="roundRect">
            <a:avLst>
              <a:gd name="adj" fmla="val 18519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VALIDASI HARDWARE &amp; HASIL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Pengujian &amp; Analisis Grafik GNUPlot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384048" y="129844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384048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280160"/>
            <a:ext cx="172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5: Pembacaan ADC Dual Channel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20860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ADC 12-bit (0–4095) dari dua channel. Saat resistansi naik, kedua ADC turun. Selisih kecil konsisten antara Vtotal dan Vsense mewakili drop tegangan pada Rw1.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4773168" y="129844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773168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6: Tegangan Terukur (mV)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1627632"/>
            <a:ext cx="190088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Vtotal vs Vsense dalam mV menunjukkan respons linear voltage divider. Selisih kecil di setiap titik pengukuran merupakan efek hambatan kabel Rw1.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384048" y="262432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384048" y="2624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7: Rx Terkompensasi (Sweep)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2953512"/>
            <a:ext cx="2352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Rx_komp yang halus selama sweep naik-turun. Averaging 16 sampel menghasilkan kurva mulus — stabilitas pengukuran tinggi, noise minimal.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51460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4773168" y="262432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4773168" y="2624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2606040"/>
            <a:ext cx="16668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8: Rx_raw vs Rx_komp (Log Scale)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953512"/>
            <a:ext cx="203258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Rx_raw selalu lebih tinggi dari Rx_komp. Metode Dual-ADC berhasil memisahkan hambatan kabel dari nilai sensor yang sesungguhnya.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84048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6" name="Shape 24"/>
          <p:cNvSpPr/>
          <p:nvPr/>
        </p:nvSpPr>
        <p:spPr>
          <a:xfrm>
            <a:off x="384048" y="395020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E0973D"/>
          </a:solidFill>
          <a:ln w="12700">
            <a:solidFill>
              <a:srgbClr val="E0973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384048" y="3950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931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9: Error% Akibat Hambatan Kabel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279392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signifikan pada resistansi sensor rendah, menurun seiring kenaikan Rx. Algoritma mengeliminasi error ini secara real-time.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9372C82-1E38-4D5A-8D26-D81CE5E74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848" y="2571750"/>
            <a:ext cx="1577511" cy="105167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A9FB944-7C3C-4B3C-9CEB-A8893F671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849" y="3931920"/>
            <a:ext cx="1449495" cy="96633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F82CBFD-F757-4373-80EA-E87B5B3FCE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3388" y="1280160"/>
            <a:ext cx="1493412" cy="99560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CE538E0-9C37-4352-BF1E-B7D0584312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4757" y="2640216"/>
            <a:ext cx="1498644" cy="99909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7253AA9-4405-46D4-A650-564DBFE322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2939" y="1298448"/>
            <a:ext cx="1549021" cy="10326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194560" cy="246888"/>
          </a:xfrm>
          <a:prstGeom prst="roundRect">
            <a:avLst>
              <a:gd name="adj" fmla="val 18519"/>
            </a:avLst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2157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KEUNGGULAN METODE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Keunggulan Utama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475488" cy="475488"/>
          </a:xfrm>
          <a:prstGeom prst="ellipse">
            <a:avLst/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389888"/>
            <a:ext cx="256032" cy="256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60320" y="1280160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EFE8D8"/>
          </a:solidFill>
          <a:ln w="12700">
            <a:solidFill>
              <a:srgbClr val="EFE8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6"/>
          <p:cNvSpPr/>
          <p:nvPr/>
        </p:nvSpPr>
        <p:spPr>
          <a:xfrm>
            <a:off x="2560320" y="128016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FW1, FW7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960120" y="1280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Sirkuit Sederhana &amp; Hemat Biaya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185623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3 resistor + 1 potensiometer. Tanpa kapasitor, op-amp, atau timing circuit.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0" y="114300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0"/>
          <p:cNvSpPr/>
          <p:nvPr/>
        </p:nvSpPr>
        <p:spPr>
          <a:xfrm>
            <a:off x="3337560" y="1280160"/>
            <a:ext cx="475488" cy="475488"/>
          </a:xfrm>
          <a:prstGeom prst="ellipse">
            <a:avLst/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389888"/>
            <a:ext cx="256032" cy="25603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86400" y="1280160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EFE8D8"/>
          </a:solidFill>
          <a:ln w="12700">
            <a:solidFill>
              <a:srgbClr val="EFE8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2"/>
          <p:cNvSpPr/>
          <p:nvPr/>
        </p:nvSpPr>
        <p:spPr>
          <a:xfrm>
            <a:off x="5486400" y="128016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FW6, FW8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3886200" y="1280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Kompensasi Kabel Real-Time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337560" y="185623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ADC channel simultan mendeteksi dan mengurangi drop tegangan kabel tanpa charge-discharge cycle.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126480" y="114300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6"/>
          <p:cNvSpPr/>
          <p:nvPr/>
        </p:nvSpPr>
        <p:spPr>
          <a:xfrm>
            <a:off x="6263640" y="1280160"/>
            <a:ext cx="475488" cy="475488"/>
          </a:xfrm>
          <a:prstGeom prst="ellipse">
            <a:avLst/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389888"/>
            <a:ext cx="256032" cy="25603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412480" y="1280160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EFE8D8"/>
          </a:solidFill>
          <a:ln w="12700">
            <a:solidFill>
              <a:srgbClr val="EFE8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18"/>
          <p:cNvSpPr/>
          <p:nvPr/>
        </p:nvSpPr>
        <p:spPr>
          <a:xfrm>
            <a:off x="8412480" y="128016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FW5, FW11, FW15</a:t>
            </a:r>
            <a:endParaRPr lang="en-US" sz="650" dirty="0"/>
          </a:p>
        </p:txBody>
      </p:sp>
      <p:sp>
        <p:nvSpPr>
          <p:cNvPr id="24" name="Text 19"/>
          <p:cNvSpPr/>
          <p:nvPr/>
        </p:nvSpPr>
        <p:spPr>
          <a:xfrm>
            <a:off x="6812280" y="1280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Safety (Rust)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263640" y="185623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Bare-metal Rust (no_std) menjamin tidak ada buffer overflow, dangling pointer, atau data race saat compile-time.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274320" y="30175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" name="Shape 22"/>
          <p:cNvSpPr/>
          <p:nvPr/>
        </p:nvSpPr>
        <p:spPr>
          <a:xfrm>
            <a:off x="411480" y="3154680"/>
            <a:ext cx="475488" cy="475488"/>
          </a:xfrm>
          <a:prstGeom prst="ellipse">
            <a:avLst/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264408"/>
            <a:ext cx="256032" cy="25603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2560320" y="3154680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EFE8D8"/>
          </a:solidFill>
          <a:ln w="12700">
            <a:solidFill>
              <a:srgbClr val="EFE8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4"/>
          <p:cNvSpPr/>
          <p:nvPr/>
        </p:nvSpPr>
        <p:spPr>
          <a:xfrm>
            <a:off x="2560320" y="315468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FW7, FW13</a:t>
            </a:r>
            <a:endParaRPr lang="en-US" sz="650" dirty="0"/>
          </a:p>
        </p:txBody>
      </p:sp>
      <p:sp>
        <p:nvSpPr>
          <p:cNvPr id="31" name="Text 25"/>
          <p:cNvSpPr/>
          <p:nvPr/>
        </p:nvSpPr>
        <p:spPr>
          <a:xfrm>
            <a:off x="960120" y="3154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Stabilitas via Digital Averaging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11480" y="373075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16 sampel ADC menghasilkan deviasi standar &lt; 15 Ω di seluruh range 9–95 kΩ.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3200400" y="30175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4" name="Shape 28"/>
          <p:cNvSpPr/>
          <p:nvPr/>
        </p:nvSpPr>
        <p:spPr>
          <a:xfrm>
            <a:off x="3337560" y="3154680"/>
            <a:ext cx="475488" cy="475488"/>
          </a:xfrm>
          <a:prstGeom prst="ellipse">
            <a:avLst/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3264408"/>
            <a:ext cx="256032" cy="256032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5486400" y="3154680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EFE8D8"/>
          </a:solidFill>
          <a:ln w="12700">
            <a:solidFill>
              <a:srgbClr val="EFE8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30"/>
          <p:cNvSpPr/>
          <p:nvPr/>
        </p:nvSpPr>
        <p:spPr>
          <a:xfrm>
            <a:off x="5486400" y="315468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FW8, FW14</a:t>
            </a:r>
            <a:endParaRPr lang="en-US" sz="650" dirty="0"/>
          </a:p>
        </p:txBody>
      </p:sp>
      <p:sp>
        <p:nvSpPr>
          <p:cNvPr id="38" name="Text 31"/>
          <p:cNvSpPr/>
          <p:nvPr/>
        </p:nvSpPr>
        <p:spPr>
          <a:xfrm>
            <a:off x="3886200" y="3154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Umpan Balik Visual Intuitif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337560" y="373075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indikator pada GPIO4 menyala saat error &lt; 5%, konfirmasi langsung bahwa pengukuran andal.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6126480" y="30175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5F2EA"/>
          </a:solidFill>
          <a:ln w="12700">
            <a:solidFill>
              <a:srgbClr val="E4DCC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1" name="Shape 34"/>
          <p:cNvSpPr/>
          <p:nvPr/>
        </p:nvSpPr>
        <p:spPr>
          <a:xfrm>
            <a:off x="6263640" y="3154680"/>
            <a:ext cx="475488" cy="475488"/>
          </a:xfrm>
          <a:prstGeom prst="ellipse">
            <a:avLst/>
          </a:prstGeom>
          <a:solidFill>
            <a:srgbClr val="2D6E8E"/>
          </a:solidFill>
          <a:ln w="12700">
            <a:solidFill>
              <a:srgbClr val="2D6E8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368" y="3264408"/>
            <a:ext cx="256032" cy="256032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8412480" y="3154680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EFE8D8"/>
          </a:solidFill>
          <a:ln w="12700">
            <a:solidFill>
              <a:srgbClr val="EFE8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Text 36"/>
          <p:cNvSpPr/>
          <p:nvPr/>
        </p:nvSpPr>
        <p:spPr>
          <a:xfrm>
            <a:off x="8412480" y="315468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FW1–FW15</a:t>
            </a:r>
            <a:endParaRPr lang="en-US" sz="650" dirty="0"/>
          </a:p>
        </p:txBody>
      </p:sp>
      <p:sp>
        <p:nvSpPr>
          <p:cNvPr id="45" name="Text 37"/>
          <p:cNvSpPr/>
          <p:nvPr/>
        </p:nvSpPr>
        <p:spPr>
          <a:xfrm>
            <a:off x="6812280" y="3154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Novel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6263640" y="373075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Pertama kali menggabungkan topologi Voltage Divider Dual-ADC 3-Wire dengan firmware Rust pada ESP32-S3.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2D6E8E">
              <a:alpha val="22000"/>
            </a:srgbClr>
          </a:solidFill>
          <a:ln w="12700">
            <a:solidFill>
              <a:srgbClr val="2D6E8E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E0973D">
              <a:alpha val="18000"/>
            </a:srgbClr>
          </a:solidFill>
          <a:ln w="12700">
            <a:solidFill>
              <a:srgbClr val="E0973D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365760" y="256032"/>
            <a:ext cx="1828800" cy="246888"/>
          </a:xfrm>
          <a:prstGeom prst="roundRect">
            <a:avLst>
              <a:gd name="adj" fmla="val 18519"/>
            </a:avLst>
          </a:prstGeom>
          <a:solidFill>
            <a:srgbClr val="E0973D"/>
          </a:solidFill>
          <a:ln w="12700">
            <a:solidFill>
              <a:srgbClr val="E0973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384048" y="25603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Metode Berhasil Diimplementasikan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6314A"/>
          </a:solidFill>
          <a:ln w="12700">
            <a:solidFill>
              <a:srgbClr val="2D6E8E"/>
            </a:solidFill>
            <a:prstDash val="solid"/>
          </a:ln>
          <a:effectLst>
            <a:outerShdw blurRad="127000" dist="25400" dir="2700000" algn="bl" rotWithShape="0">
              <a:srgbClr val="2D6E8E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Literatur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09344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utama dari 15 jurnal mengarah pada implementasi akuisisi sensor resistif di MCU modern dengan bahasa memory-safe seperti Rust.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4408" y="118872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6314A"/>
          </a:solidFill>
          <a:ln w="12700">
            <a:solidFill>
              <a:srgbClr val="2D6E8E"/>
            </a:solidFill>
            <a:prstDash val="solid"/>
          </a:ln>
          <a:effectLst>
            <a:outerShdw blurRad="127000" dist="25400" dir="2700000" algn="bl" rotWithShape="0">
              <a:srgbClr val="2D6E8E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3401568" y="12801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&amp; Hasil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1609344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Voltage Divider Dual-ADC 3-Kawat berhasil mengukur Rx di range 9–95 kΩ dengan std deviasi &lt; 15 Ω. Kompensasi Dual-ADC efektif memisahkan hambatan kabel.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08776" y="118872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6314A"/>
          </a:solidFill>
          <a:ln w="12700">
            <a:solidFill>
              <a:srgbClr val="2D6E8E"/>
            </a:solidFill>
            <a:prstDash val="solid"/>
          </a:ln>
          <a:effectLst>
            <a:outerShdw blurRad="127000" dist="25400" dir="2700000" algn="bl" rotWithShape="0">
              <a:srgbClr val="2D6E8E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6345936" y="12801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5936" y="1609344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Sirkuit sederhana tanpa kapasitor, kompensasi real-time, keamanan memori Rust, dan umpan balik visual LED — seluruhnya mengintegrasikan FW1–FW15.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 GitHub</a:t>
            </a:r>
            <a:endParaRPr lang="en-US" sz="12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063240"/>
            <a:ext cx="320040" cy="320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58952" y="30632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Natasya Tiara Regina: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58952" y="32461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github.com/itsnatasyatiara-commits/voltage-divider-dual-adc-esp32s3-rust</a:t>
            </a:r>
            <a:endParaRPr lang="en-US" sz="8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52044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58952" y="35204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Zhafran Ahmed Luxmahdy: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58952" y="37033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github.com/kemed99/voltage-divider-dual-adc-esp32s3-rust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84632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Posts</a:t>
            </a:r>
            <a:endParaRPr lang="en-US" sz="12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6324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39512" y="31272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Post – Natasya Tiara Regina</a:t>
            </a:r>
            <a:endParaRPr lang="en-US" sz="9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52044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39512" y="35844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Post – Zhafran Ahmed Luxmahdy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3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Teknologi Rekayasa Instrumentasi  •  ITS Surabaya  •  Semester Genap 2025/2026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8503920" y="46177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1674</Words>
  <Application>Microsoft Office PowerPoint</Application>
  <PresentationFormat>On-screen Show (16:9)</PresentationFormat>
  <Paragraphs>296</Paragraphs>
  <Slides>14</Slides>
  <Notes>14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ETS Pemrograman Kontroller - Voltage Divider Dual-ADC</dc:title>
  <dc:subject>PptxGenJS Presentation</dc:subject>
  <dc:creator>PptxGenJS</dc:creator>
  <cp:lastModifiedBy>Tasya Tiara</cp:lastModifiedBy>
  <cp:revision>4</cp:revision>
  <dcterms:created xsi:type="dcterms:W3CDTF">2026-06-18T18:54:10Z</dcterms:created>
  <dcterms:modified xsi:type="dcterms:W3CDTF">2026-06-25T12:47:31Z</dcterms:modified>
</cp:coreProperties>
</file>